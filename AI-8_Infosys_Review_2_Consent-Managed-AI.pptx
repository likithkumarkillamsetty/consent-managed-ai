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726679" y="0"/>
            <a:ext cx="0" cy="685800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138160" y="0"/>
            <a:ext cx="0" cy="685800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49640" y="0"/>
            <a:ext cx="0" cy="685800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72600" y="0"/>
            <a:ext cx="0" cy="685800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0" y="0"/>
            <a:ext cx="0" cy="685800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95560" y="0"/>
            <a:ext cx="0" cy="685800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607040" y="0"/>
            <a:ext cx="0" cy="685800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018520" y="0"/>
            <a:ext cx="0" cy="685800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50292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91440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0" y="132588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0" y="173736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214884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256032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297180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338328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379476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0624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61772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502920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544068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5852160"/>
            <a:ext cx="5330952" cy="0"/>
          </a:xfrm>
          <a:prstGeom prst="line">
            <a:avLst/>
          </a:prstGeom>
          <a:ln w="6350">
            <a:solidFill>
              <a:srgbClr val="0D18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4360" y="502920"/>
            <a:ext cx="2240280" cy="310896"/>
          </a:xfrm>
          <a:prstGeom prst="roundRect">
            <a:avLst/>
          </a:prstGeom>
          <a:solidFill>
            <a:srgbClr val="00002D"/>
          </a:solidFill>
          <a:ln w="10160">
            <a:solidFill>
              <a:srgbClr val="24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507492"/>
            <a:ext cx="224028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4B8FF"/>
                </a:solidFill>
                <a:latin typeface="Aptos"/>
              </a:rPr>
              <a:t>AI-8  •  INFOSYS REVIEW –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119" y="1607308"/>
            <a:ext cx="6662925" cy="13665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3000" b="1" dirty="0">
                <a:solidFill>
                  <a:srgbClr val="F2F6FC"/>
                </a:solidFill>
                <a:latin typeface="Aptos"/>
              </a:rPr>
              <a:t>CONSENT-MANAGED</a:t>
            </a:r>
            <a:r>
              <a:rPr lang="en-IN" sz="3000" b="1" dirty="0">
                <a:solidFill>
                  <a:srgbClr val="F2F6FC"/>
                </a:solidFill>
                <a:latin typeface="Aptos"/>
              </a:rPr>
              <a:t> DATA PIPELINES FOR ENTERPRISE AI (DEPA inspired)</a:t>
            </a:r>
            <a:br>
              <a:rPr dirty="0"/>
            </a:br>
            <a:r>
              <a:rPr dirty="0"/>
              <a:t>DATA PIPELINES</a:t>
            </a:r>
            <a:br>
              <a:rPr dirty="0"/>
            </a:br>
            <a:r>
              <a:rPr dirty="0"/>
              <a:t>FOR ENTERPRISE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3456432"/>
            <a:ext cx="630936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BAAC2"/>
                </a:solidFill>
                <a:latin typeface="Aptos"/>
              </a:rPr>
              <a:t>DEPA-Inspired Consent Governance &amp; Enforcement Platform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160520"/>
            <a:ext cx="6217920" cy="960120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315968"/>
            <a:ext cx="13716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B8FF"/>
                </a:solidFill>
                <a:latin typeface="Aptos"/>
              </a:rPr>
              <a:t>CORE PRINCIPLE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590288"/>
            <a:ext cx="562356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2F6FC"/>
                </a:solidFill>
                <a:latin typeface="Aptos"/>
              </a:rPr>
              <a:t>DATA SHOULD FLOW ONLY WHEN VALID CONSENT EXISTS.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914400"/>
            <a:ext cx="4297680" cy="4983480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35240" y="1234440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TEAM &amp; GUIDANCE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1755648"/>
            <a:ext cx="320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B8FF"/>
                </a:solidFill>
                <a:latin typeface="Aptos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1805593"/>
            <a:ext cx="306324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 err="1">
                <a:solidFill>
                  <a:srgbClr val="F2F6FC"/>
                </a:solidFill>
                <a:latin typeface="Aptos"/>
              </a:rPr>
              <a:t>Hritwik</a:t>
            </a:r>
            <a:r>
              <a:rPr sz="1250" b="1" dirty="0">
                <a:solidFill>
                  <a:srgbClr val="F2F6FC"/>
                </a:solidFill>
                <a:latin typeface="Aptos"/>
              </a:rPr>
              <a:t> Rupesh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267712"/>
            <a:ext cx="320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B8FF"/>
                </a:solidFill>
                <a:latin typeface="Aptos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2317657"/>
            <a:ext cx="306324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>
                <a:solidFill>
                  <a:srgbClr val="F2F6FC"/>
                </a:solidFill>
                <a:latin typeface="Aptos"/>
              </a:rPr>
              <a:t>Likith Kumar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779776"/>
            <a:ext cx="320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B8FF"/>
                </a:solidFill>
                <a:latin typeface="Aptos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2829721"/>
            <a:ext cx="306324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>
                <a:solidFill>
                  <a:srgbClr val="F2F6FC"/>
                </a:solidFill>
                <a:latin typeface="Aptos"/>
              </a:rPr>
              <a:t>Venkata Satya Sai Teja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291840"/>
            <a:ext cx="320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B8FF"/>
                </a:solidFill>
                <a:latin typeface="Apto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5008" y="3341785"/>
            <a:ext cx="306324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>
                <a:solidFill>
                  <a:srgbClr val="F2F6FC"/>
                </a:solidFill>
                <a:latin typeface="Aptos"/>
              </a:rPr>
              <a:t>Pavan Kumar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803904"/>
            <a:ext cx="320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B8FF"/>
                </a:solidFill>
                <a:latin typeface="Apto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8" y="3853849"/>
            <a:ext cx="3063240" cy="22929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dirty="0">
                <a:solidFill>
                  <a:srgbClr val="F2F6FC"/>
                </a:solidFill>
                <a:latin typeface="Aptos"/>
              </a:rPr>
              <a:t>Prakash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635240" y="4407408"/>
            <a:ext cx="3566160" cy="0"/>
          </a:xfrm>
          <a:prstGeom prst="line">
            <a:avLst/>
          </a:prstGeom>
          <a:ln w="1270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635240" y="461772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AC2"/>
                </a:solidFill>
                <a:latin typeface="Aptos"/>
              </a:rPr>
              <a:t>Department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4590288"/>
            <a:ext cx="1371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2F6FC"/>
                </a:solidFill>
                <a:latin typeface="Aptos"/>
              </a:rPr>
              <a:t>CSE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4956048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AC2"/>
                </a:solidFill>
                <a:latin typeface="Aptos"/>
              </a:rPr>
              <a:t>Faculty Guide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491947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F6FC"/>
                </a:solidFill>
                <a:latin typeface="Aptos"/>
              </a:rPr>
              <a:t>Dr S. Mohan Krishna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5321808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BAAC2"/>
                </a:solidFill>
                <a:latin typeface="Aptos"/>
              </a:rPr>
              <a:t>HOD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28523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F6FC"/>
                </a:solidFill>
                <a:latin typeface="Aptos"/>
              </a:rPr>
              <a:t>Dr G. Srinivasarao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6355080"/>
            <a:ext cx="45720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BAAC2"/>
                </a:solidFill>
                <a:latin typeface="Aptos"/>
              </a:rPr>
              <a:t>Review – 2  |  26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2F6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424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BAAC2"/>
                </a:solidFill>
                <a:latin typeface="Aptos"/>
              </a:rPr>
              <a:t>Consent-first enterprise data flow and policy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502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69848"/>
            <a:ext cx="11155680" cy="0"/>
          </a:xfrm>
          <a:prstGeom prst="line">
            <a:avLst/>
          </a:prstGeom>
          <a:ln w="1270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261872"/>
            <a:ext cx="11155680" cy="507492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83d3643-dd91-4def-90d5-89a36a11eb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570" y="1261872"/>
            <a:ext cx="7612379" cy="5074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5413248"/>
            <a:ext cx="2880360" cy="658368"/>
          </a:xfrm>
          <a:prstGeom prst="roundRect">
            <a:avLst/>
          </a:prstGeom>
          <a:solidFill>
            <a:srgbClr val="0C1427"/>
          </a:solidFill>
          <a:ln w="10160">
            <a:solidFill>
              <a:srgbClr val="24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13648" y="5522976"/>
            <a:ext cx="11887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B8FF"/>
                </a:solidFill>
                <a:latin typeface="Aptos"/>
              </a:rPr>
              <a:t>CONSENT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3648" y="5742432"/>
            <a:ext cx="242316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F6FC"/>
                </a:solidFill>
                <a:latin typeface="Aptos"/>
              </a:rPr>
              <a:t>Policy enforcement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2F6FC"/>
                </a:solidFill>
                <a:latin typeface="Aptos"/>
              </a:rP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424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BAAC2"/>
                </a:solidFill>
                <a:latin typeface="Aptos"/>
              </a:rPr>
              <a:t>Core entities supporting consent, access control and auditability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502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69848"/>
            <a:ext cx="11155680" cy="0"/>
          </a:xfrm>
          <a:prstGeom prst="line">
            <a:avLst/>
          </a:prstGeom>
          <a:ln w="1270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508760"/>
            <a:ext cx="2057400" cy="107899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4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00200"/>
            <a:ext cx="183794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4B8FF"/>
                </a:solidFill>
                <a:latin typeface="Aptos"/>
              </a:rPr>
              <a:t>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4088" y="1874519"/>
            <a:ext cx="1837944" cy="0"/>
          </a:xfrm>
          <a:prstGeom prst="line">
            <a:avLst/>
          </a:prstGeom>
          <a:ln w="1016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2376" y="1956815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PK 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139696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322576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508760"/>
            <a:ext cx="2331720" cy="107899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3C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55848" y="1600200"/>
            <a:ext cx="211226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C71FF"/>
                </a:solidFill>
                <a:latin typeface="Aptos"/>
              </a:rPr>
              <a:t>ORGANIZATION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55848" y="1874519"/>
            <a:ext cx="2112264" cy="0"/>
          </a:xfrm>
          <a:prstGeom prst="line">
            <a:avLst/>
          </a:prstGeom>
          <a:ln w="1016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74136" y="1956815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PK 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213969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232257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508760"/>
            <a:ext cx="2331720" cy="107899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A4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1600200"/>
            <a:ext cx="211226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A469FF"/>
                </a:solidFill>
                <a:latin typeface="Aptos"/>
              </a:rPr>
              <a:t>DATASET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76488" y="1874519"/>
            <a:ext cx="2112264" cy="0"/>
          </a:xfrm>
          <a:prstGeom prst="line">
            <a:avLst/>
          </a:prstGeom>
          <a:ln w="1016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94776" y="1956815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PK  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4776" y="213969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232257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provider_id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3246120"/>
            <a:ext cx="2331720" cy="1298448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7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55848" y="3337560"/>
            <a:ext cx="211226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7DC9D"/>
                </a:solidFill>
                <a:latin typeface="Aptos"/>
              </a:rPr>
              <a:t>CONSENT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55848" y="3611879"/>
            <a:ext cx="2112264" cy="0"/>
          </a:xfrm>
          <a:prstGeom prst="line">
            <a:avLst/>
          </a:prstGeom>
          <a:ln w="1016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374136" y="369417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PK 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4136" y="387705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user_id  •  dataset_id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4136" y="405993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status  •  purpose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6" y="424281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expires_at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246120"/>
            <a:ext cx="2057400" cy="1298448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FFB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" y="3337560"/>
            <a:ext cx="183794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BF30"/>
                </a:solidFill>
                <a:latin typeface="Aptos"/>
              </a:rPr>
              <a:t>ACCESS_REQUEST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4088" y="3611879"/>
            <a:ext cx="1837944" cy="0"/>
          </a:xfrm>
          <a:prstGeom prst="line">
            <a:avLst/>
          </a:prstGeom>
          <a:ln w="1016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2376" y="3694176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PK 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877056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consent_id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4059936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requested_scope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246120"/>
            <a:ext cx="2331720" cy="1298448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FF5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0528" y="3337560"/>
            <a:ext cx="211226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5F66"/>
                </a:solidFill>
                <a:latin typeface="Aptos"/>
              </a:rPr>
              <a:t>AUDIT_LOG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10528" y="3611879"/>
            <a:ext cx="2112264" cy="0"/>
          </a:xfrm>
          <a:prstGeom prst="line">
            <a:avLst/>
          </a:prstGeom>
          <a:ln w="1016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28816" y="369417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PK 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387705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consent_id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8816" y="405993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event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8816" y="424281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timestamp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66760" y="5074920"/>
            <a:ext cx="2331720" cy="107899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4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76488" y="5166359"/>
            <a:ext cx="211226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4B8FF"/>
                </a:solidFill>
                <a:latin typeface="Aptos"/>
              </a:rPr>
              <a:t>TRAINING_BATCH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476488" y="5440680"/>
            <a:ext cx="2112264" cy="0"/>
          </a:xfrm>
          <a:prstGeom prst="line">
            <a:avLst/>
          </a:prstGeom>
          <a:ln w="1016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494776" y="552297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PK  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94776" y="570585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dataset_id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94776" y="588873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created_at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40680" y="5074920"/>
            <a:ext cx="2331720" cy="107899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3C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50408" y="5166359"/>
            <a:ext cx="2112263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C71FF"/>
                </a:solidFill>
                <a:latin typeface="Aptos"/>
              </a:rPr>
              <a:t>DATA_LINEAGE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550408" y="5440680"/>
            <a:ext cx="2112264" cy="0"/>
          </a:xfrm>
          <a:prstGeom prst="line">
            <a:avLst/>
          </a:prstGeom>
          <a:ln w="1016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568696" y="552297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PK  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68696" y="570585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batch_id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68696" y="5888736"/>
            <a:ext cx="21031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F2F6FC"/>
                </a:solidFill>
                <a:latin typeface="Aptos"/>
              </a:rPr>
              <a:t>model_ref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651760" y="2039112"/>
            <a:ext cx="594360" cy="0"/>
          </a:xfrm>
          <a:prstGeom prst="line">
            <a:avLst/>
          </a:prstGeom>
          <a:ln w="16510">
            <a:solidFill>
              <a:srgbClr val="24B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651760" y="3886200"/>
            <a:ext cx="594360" cy="0"/>
          </a:xfrm>
          <a:prstGeom prst="line">
            <a:avLst/>
          </a:prstGeom>
          <a:ln w="16510">
            <a:solidFill>
              <a:srgbClr val="27D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416552" y="2587752"/>
            <a:ext cx="0" cy="658368"/>
          </a:xfrm>
          <a:prstGeom prst="line">
            <a:avLst/>
          </a:prstGeom>
          <a:ln w="16510">
            <a:solidFill>
              <a:srgbClr val="27D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577840" y="3886200"/>
            <a:ext cx="822960" cy="0"/>
          </a:xfrm>
          <a:prstGeom prst="line">
            <a:avLst/>
          </a:prstGeom>
          <a:ln w="16510">
            <a:solidFill>
              <a:srgbClr val="FF5F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77840" y="2423160"/>
            <a:ext cx="2788920" cy="1216152"/>
          </a:xfrm>
          <a:prstGeom prst="line">
            <a:avLst/>
          </a:prstGeom>
          <a:ln w="16510">
            <a:solidFill>
              <a:srgbClr val="A46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28048" y="2587752"/>
            <a:ext cx="0" cy="2487168"/>
          </a:xfrm>
          <a:prstGeom prst="line">
            <a:avLst/>
          </a:prstGeom>
          <a:ln w="16510">
            <a:solidFill>
              <a:srgbClr val="24B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562088" y="5614416"/>
            <a:ext cx="210312" cy="0"/>
          </a:xfrm>
          <a:prstGeom prst="line">
            <a:avLst/>
          </a:prstGeom>
          <a:ln w="16510">
            <a:solidFill>
              <a:srgbClr val="3C7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594360" y="5074920"/>
            <a:ext cx="2057400" cy="1078992"/>
          </a:xfrm>
          <a:prstGeom prst="roundRect">
            <a:avLst/>
          </a:prstGeom>
          <a:solidFill>
            <a:srgbClr val="0D1A2F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9808" y="5230368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4B8FF"/>
                </a:solidFill>
                <a:latin typeface="Aptos"/>
              </a:rPr>
              <a:t>RELATIONSHIP LOGIC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5504688"/>
            <a:ext cx="169164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F2F6FC"/>
                </a:solidFill>
                <a:latin typeface="Aptos"/>
              </a:rPr>
              <a:t>Consent → Access → Audit</a:t>
            </a:r>
            <a:br/>
            <a:r>
              <a:t>Dataset → Training → Lineage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2F6FC"/>
                </a:solidFill>
                <a:latin typeface="Aptos"/>
              </a:rPr>
              <a:t>IMPLEMENTATION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424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BAAC2"/>
                </a:solidFill>
                <a:latin typeface="Aptos"/>
              </a:rPr>
              <a:t>Current working module vs. planned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502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69848"/>
            <a:ext cx="11155680" cy="0"/>
          </a:xfrm>
          <a:prstGeom prst="line">
            <a:avLst/>
          </a:prstGeom>
          <a:ln w="1270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417320"/>
            <a:ext cx="6903720" cy="4526280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CURRENT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51206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F6FC"/>
                </a:solidFill>
                <a:latin typeface="Aptos"/>
              </a:rPr>
              <a:t>Core Consent Governance &amp; Enforcement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578608"/>
            <a:ext cx="56692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F2F6FC"/>
                </a:solidFill>
                <a:latin typeface="Aptos"/>
              </a:rPr>
              <a:t>React dashboard &amp; consent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017520"/>
            <a:ext cx="56692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F2F6FC"/>
                </a:solidFill>
                <a:latin typeface="Aptos"/>
              </a:rPr>
              <a:t>REST APIs with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456432"/>
            <a:ext cx="56692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F2F6FC"/>
                </a:solidFill>
                <a:latin typeface="Aptos"/>
              </a:rPr>
              <a:t>Consent creation / approval / denial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95344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895344"/>
            <a:ext cx="56692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F2F6FC"/>
                </a:solidFill>
                <a:latin typeface="Aptos"/>
              </a:rPr>
              <a:t>Consent revocation &amp; lifecycle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34256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4334256"/>
            <a:ext cx="56692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F2F6FC"/>
                </a:solidFill>
                <a:latin typeface="Aptos"/>
              </a:rPr>
              <a:t>Consent Gate: purpose + scope + validity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73168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773168"/>
            <a:ext cx="56692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F2F6FC"/>
                </a:solidFill>
                <a:latin typeface="Aptos"/>
              </a:rPr>
              <a:t>Access blocking for invalid / revoked consent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5212080"/>
            <a:ext cx="566928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F2F6FC"/>
                </a:solidFill>
                <a:latin typeface="Aptos"/>
              </a:rPr>
              <a:t>Audit logging &amp; registry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504688"/>
            <a:ext cx="6263640" cy="201168"/>
          </a:xfrm>
          <a:prstGeom prst="roundRect">
            <a:avLst/>
          </a:prstGeom>
          <a:solidFill>
            <a:srgbClr val="222F47"/>
          </a:solidFill>
          <a:ln w="10160">
            <a:solidFill>
              <a:srgbClr val="22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" y="5504688"/>
            <a:ext cx="4526280" cy="201168"/>
          </a:xfrm>
          <a:prstGeom prst="roundRect">
            <a:avLst/>
          </a:prstGeom>
          <a:solidFill>
            <a:srgbClr val="27DC9D"/>
          </a:solidFill>
          <a:ln w="10160">
            <a:solidFill>
              <a:srgbClr val="27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5742432"/>
            <a:ext cx="246888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7DC9D"/>
                </a:solidFill>
                <a:latin typeface="Aptos"/>
              </a:rPr>
              <a:t>Core module: IMPLEMENTED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742432"/>
            <a:ext cx="3886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69" b="0">
                <a:solidFill>
                  <a:srgbClr val="9BAAC2"/>
                </a:solidFill>
                <a:latin typeface="Aptos"/>
              </a:rPr>
              <a:t>Overall % intentionally left editable — advanced modules are still in progress.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54112" y="1417320"/>
            <a:ext cx="3858768" cy="4526280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28431" y="1719072"/>
            <a:ext cx="19202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BF30"/>
                </a:solidFill>
                <a:latin typeface="Aptos"/>
              </a:rPr>
              <a:t>NEXT / 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240280"/>
            <a:ext cx="2286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F30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221992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F2F6FC"/>
                </a:solidFill>
                <a:latin typeface="Aptos"/>
              </a:rPr>
              <a:t>AI Training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450592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BAAC2"/>
                </a:solidFill>
                <a:latin typeface="Aptos"/>
              </a:rPr>
              <a:t>Data → approved training batches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926080"/>
            <a:ext cx="2286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F30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907792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F2F6FC"/>
                </a:solidFill>
                <a:latin typeface="Aptos"/>
              </a:rPr>
              <a:t>Data Lineage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136392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BAAC2"/>
                </a:solidFill>
                <a:latin typeface="Aptos"/>
              </a:rPr>
              <a:t>Consent → dataset → batch →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611880"/>
            <a:ext cx="2286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F30"/>
                </a:solidFill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593592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F2F6FC"/>
                </a:solidFill>
                <a:latin typeface="Aptos"/>
              </a:rPr>
              <a:t>Anonymization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822192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BAAC2"/>
                </a:solidFill>
                <a:latin typeface="Aptos"/>
              </a:rPr>
              <a:t>PII masking / pseudonymization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297680"/>
            <a:ext cx="2286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F30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279392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F2F6FC"/>
                </a:solidFill>
                <a:latin typeface="Aptos"/>
              </a:rPr>
              <a:t>Differential Privacy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507992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BAAC2"/>
                </a:solidFill>
                <a:latin typeface="Aptos"/>
              </a:rPr>
              <a:t>Aggregate privacy 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983480"/>
            <a:ext cx="2286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F30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965192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F2F6FC"/>
                </a:solidFill>
                <a:latin typeface="Aptos"/>
              </a:rPr>
              <a:t>Analytics &amp; Marketplace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193792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BAAC2"/>
                </a:solidFill>
                <a:latin typeface="Aptos"/>
              </a:rPr>
              <a:t>Usage insights + governed discovery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28431" y="5513832"/>
            <a:ext cx="1508760" cy="310896"/>
          </a:xfrm>
          <a:prstGeom prst="roundRect">
            <a:avLst/>
          </a:prstGeom>
          <a:solidFill>
            <a:srgbClr val="2D0000"/>
          </a:solidFill>
          <a:ln w="10160">
            <a:solidFill>
              <a:srgbClr val="FFB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28431" y="5518404"/>
            <a:ext cx="1508760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BF30"/>
                </a:solidFill>
                <a:latin typeface="Aptos"/>
              </a:rPr>
              <a:t>EXTENSION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2F6FC"/>
                </a:solidFill>
                <a:latin typeface="Aptos"/>
              </a:rPr>
              <a:t>NOVEL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424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BAAC2"/>
                </a:solidFill>
                <a:latin typeface="Aptos"/>
              </a:rPr>
              <a:t>What makes the platform consent-aware rather than simply access-controlled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502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69848"/>
            <a:ext cx="11155680" cy="0"/>
          </a:xfrm>
          <a:prstGeom prst="line">
            <a:avLst/>
          </a:prstGeom>
          <a:ln w="1270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417320"/>
            <a:ext cx="3218688" cy="190195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00200"/>
            <a:ext cx="3474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B8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81912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2F6FC"/>
                </a:solidFill>
                <a:latin typeface="Aptos"/>
              </a:rPr>
              <a:t>CONSENT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75688"/>
            <a:ext cx="2743200" cy="7132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9BAAC2"/>
                </a:solidFill>
                <a:latin typeface="Aptos"/>
              </a:rPr>
              <a:t>Central policy enforcement before data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1417320"/>
            <a:ext cx="3218688" cy="190195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88536" y="1600200"/>
            <a:ext cx="3474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7DC9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1581912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2F6FC"/>
                </a:solidFill>
                <a:latin typeface="Aptos"/>
              </a:rPr>
              <a:t>PURPOSE BINDING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8536" y="2075688"/>
            <a:ext cx="2743200" cy="7132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9BAAC2"/>
                </a:solidFill>
                <a:latin typeface="Aptos"/>
              </a:rPr>
              <a:t>Consent is tied to an approved use such as AI training.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5" y="1417320"/>
            <a:ext cx="3218688" cy="190195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81544" y="1600200"/>
            <a:ext cx="3474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C71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5" y="1581912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2F6FC"/>
                </a:solidFill>
                <a:latin typeface="Aptos"/>
              </a:rPr>
              <a:t>GRANULAR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2075688"/>
            <a:ext cx="2743200" cy="7132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9BAAC2"/>
                </a:solidFill>
                <a:latin typeface="Aptos"/>
              </a:rPr>
              <a:t>Access is constrained to the authorized data scope.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03320"/>
            <a:ext cx="3218688" cy="190195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886200"/>
            <a:ext cx="3474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5F66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867911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2F6FC"/>
                </a:solidFill>
                <a:latin typeface="Aptos"/>
              </a:rPr>
              <a:t>REVOCATION-AWARE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361688"/>
            <a:ext cx="2743200" cy="7132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9BAAC2"/>
                </a:solidFill>
                <a:latin typeface="Aptos"/>
              </a:rPr>
              <a:t>Revocation immediately changes the access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87368" y="3703320"/>
            <a:ext cx="3218688" cy="190195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88536" y="3886200"/>
            <a:ext cx="3474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469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867911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2F6FC"/>
                </a:solidFill>
                <a:latin typeface="Aptos"/>
              </a:rPr>
              <a:t>AUDITABLE USAGE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4361688"/>
            <a:ext cx="2743200" cy="7132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9BAAC2"/>
                </a:solidFill>
                <a:latin typeface="Aptos"/>
              </a:rPr>
              <a:t>Creation, approval and blocked access are recorded.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0375" y="3703320"/>
            <a:ext cx="3218688" cy="190195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81544" y="3886200"/>
            <a:ext cx="347472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BF30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5" y="3867911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2F6FC"/>
                </a:solidFill>
                <a:latin typeface="Aptos"/>
              </a:rPr>
              <a:t>PRIVACY EXTENSION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544" y="4361688"/>
            <a:ext cx="2743200" cy="7132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9BAAC2"/>
                </a:solidFill>
                <a:latin typeface="Aptos"/>
              </a:rPr>
              <a:t>Anonymization and differential privacy are planned pipeline controls.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" y="2926080"/>
            <a:ext cx="1024128" cy="310896"/>
          </a:xfrm>
          <a:prstGeom prst="roundRect">
            <a:avLst/>
          </a:prstGeom>
          <a:solidFill>
            <a:srgbClr val="000A00"/>
          </a:solidFill>
          <a:ln w="10160">
            <a:solidFill>
              <a:srgbClr val="27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2930652"/>
            <a:ext cx="102412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7DC9D"/>
                </a:solidFill>
                <a:latin typeface="Aptos"/>
              </a:rPr>
              <a:t>IMPLEMENTED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2926080"/>
            <a:ext cx="1024128" cy="310896"/>
          </a:xfrm>
          <a:prstGeom prst="roundRect">
            <a:avLst/>
          </a:prstGeom>
          <a:solidFill>
            <a:srgbClr val="000A00"/>
          </a:solidFill>
          <a:ln w="10160">
            <a:solidFill>
              <a:srgbClr val="27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0" y="2930652"/>
            <a:ext cx="102412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7DC9D"/>
                </a:solidFill>
                <a:latin typeface="Aptos"/>
              </a:rPr>
              <a:t>IMPLEMENTED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90688" y="2926080"/>
            <a:ext cx="1024128" cy="310896"/>
          </a:xfrm>
          <a:prstGeom prst="roundRect">
            <a:avLst/>
          </a:prstGeom>
          <a:solidFill>
            <a:srgbClr val="000A00"/>
          </a:solidFill>
          <a:ln w="10160">
            <a:solidFill>
              <a:srgbClr val="27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90688" y="2930652"/>
            <a:ext cx="102412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7DC9D"/>
                </a:solidFill>
                <a:latin typeface="Aptos"/>
              </a:rPr>
              <a:t>IMPLEMENTED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" y="5212080"/>
            <a:ext cx="1024128" cy="310896"/>
          </a:xfrm>
          <a:prstGeom prst="roundRect">
            <a:avLst/>
          </a:prstGeom>
          <a:solidFill>
            <a:srgbClr val="000A00"/>
          </a:solidFill>
          <a:ln w="10160">
            <a:solidFill>
              <a:srgbClr val="27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5216652"/>
            <a:ext cx="102412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7DC9D"/>
                </a:solidFill>
                <a:latin typeface="Aptos"/>
              </a:rPr>
              <a:t>IMPLEMENTED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5212080"/>
            <a:ext cx="1024128" cy="310896"/>
          </a:xfrm>
          <a:prstGeom prst="roundRect">
            <a:avLst/>
          </a:prstGeom>
          <a:solidFill>
            <a:srgbClr val="000A00"/>
          </a:solidFill>
          <a:ln w="10160">
            <a:solidFill>
              <a:srgbClr val="27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97680" y="5216652"/>
            <a:ext cx="102412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7DC9D"/>
                </a:solidFill>
                <a:latin typeface="Aptos"/>
              </a:rPr>
              <a:t>IMPLEMENTED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90688" y="5212080"/>
            <a:ext cx="841248" cy="310896"/>
          </a:xfrm>
          <a:prstGeom prst="roundRect">
            <a:avLst/>
          </a:prstGeom>
          <a:solidFill>
            <a:srgbClr val="2D0000"/>
          </a:solidFill>
          <a:ln w="10160">
            <a:solidFill>
              <a:srgbClr val="FFB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90688" y="5216652"/>
            <a:ext cx="841248" cy="2834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BF30"/>
                </a:solidFill>
                <a:latin typeface="Aptos"/>
              </a:rPr>
              <a:t>PLANNED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2F6FC"/>
                </a:solidFill>
                <a:latin typeface="Aptos"/>
              </a:rPr>
              <a:t>TESTING, VALIDATION &amp; BUG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424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BAAC2"/>
                </a:solidFill>
                <a:latin typeface="Aptos"/>
              </a:rPr>
              <a:t>Validation focuses on the policy decisions that protect data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502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69848"/>
            <a:ext cx="11155680" cy="0"/>
          </a:xfrm>
          <a:prstGeom prst="line">
            <a:avLst/>
          </a:prstGeom>
          <a:ln w="1270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1417320"/>
            <a:ext cx="658368" cy="438912"/>
          </a:xfrm>
          <a:prstGeom prst="rect">
            <a:avLst/>
          </a:prstGeom>
          <a:solidFill>
            <a:srgbClr val="182743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47548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24B8FF"/>
                </a:solidFill>
                <a:latin typeface="Aptos"/>
              </a:rPr>
              <a:t>ID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728" y="1417320"/>
            <a:ext cx="2834640" cy="438912"/>
          </a:xfrm>
          <a:prstGeom prst="rect">
            <a:avLst/>
          </a:prstGeom>
          <a:solidFill>
            <a:srgbClr val="182743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44168" y="1463040"/>
            <a:ext cx="2651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24B8FF"/>
                </a:solidFill>
                <a:latin typeface="Aptos"/>
              </a:rPr>
              <a:t>TEST CONDITION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7368" y="1417320"/>
            <a:ext cx="2971800" cy="438912"/>
          </a:xfrm>
          <a:prstGeom prst="rect">
            <a:avLst/>
          </a:prstGeom>
          <a:solidFill>
            <a:srgbClr val="182743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78808" y="1463040"/>
            <a:ext cx="278892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24B8FF"/>
                </a:solidFill>
                <a:latin typeface="Aptos"/>
              </a:rPr>
              <a:t>EXPECTED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9168" y="1417320"/>
            <a:ext cx="1234440" cy="438912"/>
          </a:xfrm>
          <a:prstGeom prst="rect">
            <a:avLst/>
          </a:prstGeom>
          <a:solidFill>
            <a:srgbClr val="182743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0608" y="1463040"/>
            <a:ext cx="10515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24B8FF"/>
                </a:solidFill>
                <a:latin typeface="Apto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856232"/>
            <a:ext cx="658368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1911096"/>
            <a:ext cx="47548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728" y="1856232"/>
            <a:ext cx="283464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44168" y="1911096"/>
            <a:ext cx="26517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Valid active consent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87368" y="1856232"/>
            <a:ext cx="297180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78808" y="1911096"/>
            <a:ext cx="27889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Access allowed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1856232"/>
            <a:ext cx="123444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50608" y="1911096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27DC9D"/>
                </a:solidFill>
                <a:latin typeface="Aptos"/>
              </a:rPr>
              <a:t>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276856"/>
            <a:ext cx="658368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2331720"/>
            <a:ext cx="47548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52728" y="2276856"/>
            <a:ext cx="283464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44168" y="2331720"/>
            <a:ext cx="26517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Revoked consent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7368" y="2276856"/>
            <a:ext cx="297180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78808" y="2331720"/>
            <a:ext cx="27889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Access blocked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2276856"/>
            <a:ext cx="123444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50608" y="2331720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27DC9D"/>
                </a:solidFill>
                <a:latin typeface="Aptos"/>
              </a:rPr>
              <a:t>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2697480"/>
            <a:ext cx="658368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2752344"/>
            <a:ext cx="47548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52728" y="2697480"/>
            <a:ext cx="283464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44168" y="2752344"/>
            <a:ext cx="26517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Purpose mismatch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87368" y="2697480"/>
            <a:ext cx="297180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78808" y="2752344"/>
            <a:ext cx="27889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Access blocked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9168" y="2697480"/>
            <a:ext cx="123444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50608" y="2752344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27DC9D"/>
                </a:solidFill>
                <a:latin typeface="Aptos"/>
              </a:rPr>
              <a:t>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118104"/>
            <a:ext cx="658368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3172968"/>
            <a:ext cx="47548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52728" y="3118104"/>
            <a:ext cx="283464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44168" y="3172968"/>
            <a:ext cx="26517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Scope mismatch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87368" y="3118104"/>
            <a:ext cx="297180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78808" y="3172968"/>
            <a:ext cx="27889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Access blocked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9168" y="3118104"/>
            <a:ext cx="123444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50608" y="3172968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27DC9D"/>
                </a:solidFill>
                <a:latin typeface="Aptos"/>
              </a:rPr>
              <a:t>PASS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3538728"/>
            <a:ext cx="658368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3593592"/>
            <a:ext cx="47548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52728" y="3538728"/>
            <a:ext cx="283464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44168" y="3593592"/>
            <a:ext cx="26517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Expired consent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7368" y="3538728"/>
            <a:ext cx="297180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78808" y="3593592"/>
            <a:ext cx="27889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Access blocked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9168" y="3538728"/>
            <a:ext cx="123444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50608" y="3593592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27DC9D"/>
                </a:solidFill>
                <a:latin typeface="Aptos"/>
              </a:rPr>
              <a:t>VALIDATED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3959352"/>
            <a:ext cx="658368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4014215"/>
            <a:ext cx="47548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52728" y="3959352"/>
            <a:ext cx="283464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44168" y="4014215"/>
            <a:ext cx="26517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Pending consent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87368" y="3959352"/>
            <a:ext cx="297180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78808" y="4014215"/>
            <a:ext cx="27889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Access blocked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959352"/>
            <a:ext cx="123444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150608" y="4014215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27DC9D"/>
                </a:solidFill>
                <a:latin typeface="Aptos"/>
              </a:rPr>
              <a:t>VALIDATED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4379976"/>
            <a:ext cx="658368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85800" y="4434840"/>
            <a:ext cx="47548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52728" y="4379976"/>
            <a:ext cx="283464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344168" y="4434840"/>
            <a:ext cx="26517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Consent creation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87368" y="4379976"/>
            <a:ext cx="297180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78808" y="4434840"/>
            <a:ext cx="27889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Audit event generated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9168" y="4379976"/>
            <a:ext cx="1234440" cy="420624"/>
          </a:xfrm>
          <a:prstGeom prst="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150608" y="4434840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27DC9D"/>
                </a:solidFill>
                <a:latin typeface="Aptos"/>
              </a:rPr>
              <a:t>PASS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4360" y="4800600"/>
            <a:ext cx="658368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85800" y="4855464"/>
            <a:ext cx="47548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52728" y="4800600"/>
            <a:ext cx="283464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344168" y="4855464"/>
            <a:ext cx="26517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Consent approval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87368" y="4800600"/>
            <a:ext cx="297180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78808" y="4855464"/>
            <a:ext cx="278892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2F6FC"/>
                </a:solidFill>
                <a:latin typeface="Aptos"/>
              </a:rPr>
              <a:t>Status + audit updated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59168" y="4800600"/>
            <a:ext cx="1234440" cy="420624"/>
          </a:xfrm>
          <a:prstGeom prst="rect">
            <a:avLst/>
          </a:prstGeom>
          <a:solidFill>
            <a:srgbClr val="0E182C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150608" y="4855464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27DC9D"/>
                </a:solidFill>
                <a:latin typeface="Aptos"/>
              </a:rPr>
              <a:t>PASS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75320" y="1417320"/>
            <a:ext cx="3337560" cy="3127248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522208" y="1664208"/>
            <a:ext cx="25603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4B8FF"/>
                </a:solidFill>
                <a:latin typeface="Aptos"/>
              </a:rPr>
              <a:t>IMPLEMENTATION EVIDENCE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03920" y="2011680"/>
            <a:ext cx="2880360" cy="2194560"/>
          </a:xfrm>
          <a:prstGeom prst="roundRect">
            <a:avLst/>
          </a:prstGeom>
          <a:solidFill>
            <a:srgbClr val="09101F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 descr="Screenshot 2026-09-25 184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440197"/>
            <a:ext cx="2880360" cy="1337525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594360" y="5321808"/>
            <a:ext cx="11018520" cy="804672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41248" y="5504688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5F66"/>
                </a:solidFill>
                <a:latin typeface="Aptos"/>
              </a:rPr>
              <a:t>BUG RESOLUTION STATUS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42032" y="5468112"/>
            <a:ext cx="864108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F2F6FC"/>
                </a:solidFill>
                <a:latin typeface="Aptos"/>
              </a:rPr>
              <a:t>API validation  •  database connectivity  •  consent state transitions  •  dashboard synchronization  •  audit logging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" y="5806440"/>
            <a:ext cx="978408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BAAC2"/>
                </a:solidFill>
                <a:latin typeface="Aptos"/>
              </a:rPr>
              <a:t>Issues were iteratively validated through API + UI testing during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2F6FC"/>
                </a:solidFill>
                <a:latin typeface="Aptos"/>
              </a:rPr>
              <a:t>FURTHER PLAN OF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4241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BAAC2"/>
                </a:solidFill>
                <a:latin typeface="Aptos"/>
              </a:rPr>
              <a:t>Roadmap from the implemented governance core to a full consent-aware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5029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69848"/>
            <a:ext cx="11155680" cy="0"/>
          </a:xfrm>
          <a:prstGeom prst="line">
            <a:avLst/>
          </a:prstGeom>
          <a:ln w="1270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481328"/>
            <a:ext cx="3218688" cy="3886200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7DC9D"/>
                </a:solidFill>
                <a:latin typeface="Aptos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1719072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27DC9D"/>
                </a:solidFill>
                <a:latin typeface="Aptos"/>
              </a:rPr>
              <a:t>CURRENT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103120"/>
            <a:ext cx="2761488" cy="0"/>
          </a:xfrm>
          <a:prstGeom prst="line">
            <a:avLst/>
          </a:prstGeom>
          <a:ln w="1270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3591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3500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Consent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163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8072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Consent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735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2644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Consent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307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7216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Approve / Deny / Revoke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879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1788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Audit Logging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451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7DC9D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6360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Dashboard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87368" y="1481328"/>
            <a:ext cx="3218688" cy="3886200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5968" y="1755648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4B8FF"/>
                </a:solidFill>
                <a:latin typeface="Aptos"/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1719072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24B8FF"/>
                </a:solidFill>
                <a:latin typeface="Aptos"/>
              </a:rPr>
              <a:t>NEXT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15968" y="2103120"/>
            <a:ext cx="2761488" cy="0"/>
          </a:xfrm>
          <a:prstGeom prst="line">
            <a:avLst/>
          </a:prstGeom>
          <a:ln w="1270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315968" y="23591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23500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Consent-aware ML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28163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28072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Data lineage tracking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32735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6" y="32644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Anonymization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37307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8576" y="37216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Privacy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15968" y="41879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41788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Advanced analytics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0375" y="1481328"/>
            <a:ext cx="3218688" cy="3886200"/>
          </a:xfrm>
          <a:prstGeom prst="roundRect">
            <a:avLst/>
          </a:prstGeom>
          <a:solidFill>
            <a:srgbClr val="111B32"/>
          </a:solidFill>
          <a:ln w="10160">
            <a:solidFill>
              <a:srgbClr val="2E4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08975" y="1755648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A469FF"/>
                </a:solidFill>
                <a:latin typeface="Aptos"/>
              </a:rPr>
              <a:t>PHASE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54896" y="1719072"/>
            <a:ext cx="1051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A469FF"/>
                </a:solidFill>
                <a:latin typeface="Aptos"/>
              </a:rPr>
              <a:t>EXTENSION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08975" y="2103120"/>
            <a:ext cx="2761488" cy="0"/>
          </a:xfrm>
          <a:prstGeom prst="line">
            <a:avLst/>
          </a:prstGeom>
          <a:ln w="12700">
            <a:solidFill>
              <a:srgbClr val="2E40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808975" y="23591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469FF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1583" y="23500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Differential privacy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8975" y="28163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469FF"/>
                </a:solidFill>
                <a:latin typeface="Aptos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3" y="28072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AI training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8975" y="32735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469FF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3" y="32644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Data marketplace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08975" y="37307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469FF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1583" y="37216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External data providers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8975" y="4187952"/>
            <a:ext cx="20116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469FF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01583" y="4178808"/>
            <a:ext cx="24231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2F6FC"/>
                </a:solidFill>
                <a:latin typeface="Aptos"/>
              </a:rPr>
              <a:t>Compliance automation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1024" y="3063240"/>
            <a:ext cx="320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4B8FF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4032" y="3063240"/>
            <a:ext cx="32004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A469FF"/>
                </a:solidFill>
                <a:latin typeface="Aptos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5623560"/>
            <a:ext cx="11018520" cy="658368"/>
          </a:xfrm>
          <a:prstGeom prst="roundRect">
            <a:avLst/>
          </a:prstGeom>
          <a:solidFill>
            <a:srgbClr val="0B192D"/>
          </a:solidFill>
          <a:ln w="10160">
            <a:solidFill>
              <a:srgbClr val="24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0120" y="5769864"/>
            <a:ext cx="100584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4B8FF"/>
                </a:solidFill>
                <a:latin typeface="Aptos"/>
              </a:rPr>
              <a:t>CONSENT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93392" y="574243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9BAAC2"/>
                </a:solidFill>
                <a:latin typeface="Aptos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59152" y="5769864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2F6FC"/>
                </a:solidFill>
                <a:latin typeface="Aptos"/>
              </a:rPr>
              <a:t>POLICY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0128" y="574243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9BAAC2"/>
                </a:solidFill>
                <a:latin typeface="Aptos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85032" y="5769864"/>
            <a:ext cx="82296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2F6FC"/>
                </a:solidFill>
                <a:latin typeface="Aptos"/>
              </a:rPr>
              <a:t>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53712" y="574243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9BAAC2"/>
                </a:solidFill>
                <a:latin typeface="Aptos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0" y="5769864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27DC9D"/>
                </a:solidFill>
                <a:latin typeface="Aptos"/>
              </a:rPr>
              <a:t>AI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9552" y="574243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9BAAC2"/>
                </a:solidFill>
                <a:latin typeface="Aptos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0" y="5769864"/>
            <a:ext cx="914400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A469FF"/>
                </a:solidFill>
                <a:latin typeface="Aptos"/>
              </a:rPr>
              <a:t>AUDIT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5733288"/>
            <a:ext cx="388620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BAAC2"/>
                </a:solidFill>
                <a:latin typeface="Aptos"/>
              </a:rPr>
              <a:t>A governed path from user consent to accountable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617</Words>
  <Application>Microsoft Office PowerPoint</Application>
  <PresentationFormat>Widescreen</PresentationFormat>
  <Paragraphs>228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Consent-Managed Data Pipelines for Enterprise AI – Infosys Review 2</dc:title>
  <dc:subject>AI-8 | Implementation Phase</dc:subject>
  <dc:creator>Hritwik Rupesh and Team</dc:creator>
  <cp:keywords>DEPA, consent, AI governance, consent gate, PostgreSQL, React, Node.js</cp:keywords>
  <dc:description>generated using python-pptx</dc:description>
  <cp:lastModifiedBy>Ravi Midatana</cp:lastModifiedBy>
  <cp:revision>2</cp:revision>
  <dcterms:created xsi:type="dcterms:W3CDTF">2013-01-27T09:14:16Z</dcterms:created>
  <dcterms:modified xsi:type="dcterms:W3CDTF">2026-09-25T14:17:43Z</dcterms:modified>
  <cp:category/>
</cp:coreProperties>
</file>